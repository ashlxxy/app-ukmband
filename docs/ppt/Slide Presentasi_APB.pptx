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2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3.png"/><Relationship Id="rId5" Type="http://schemas.openxmlformats.org/officeDocument/2006/relationships/image" Target="../media/image-4-3.png"/><Relationship Id="rId6" Type="http://schemas.openxmlformats.org/officeDocument/2006/relationships/image" Target="../media/image-4-3.png"/><Relationship Id="rId7" Type="http://schemas.openxmlformats.org/officeDocument/2006/relationships/image" Target="../media/image-4-3.png"/><Relationship Id="rId8" Type="http://schemas.openxmlformats.org/officeDocument/2006/relationships/image" Target="../media/image-4-3.png"/><Relationship Id="rId9" Type="http://schemas.openxmlformats.org/officeDocument/2006/relationships/image" Target="../media/image-4-3.png"/><Relationship Id="rId10" Type="http://schemas.openxmlformats.org/officeDocument/2006/relationships/image" Target="../media/image-4-3.png"/><Relationship Id="rId11" Type="http://schemas.openxmlformats.org/officeDocument/2006/relationships/image" Target="../media/image-4-3.png"/><Relationship Id="rId12" Type="http://schemas.openxmlformats.org/officeDocument/2006/relationships/image" Target="../media/image-4-3.png"/><Relationship Id="rId13" Type="http://schemas.openxmlformats.org/officeDocument/2006/relationships/image" Target="../media/image-4-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3.png"/><Relationship Id="rId5" Type="http://schemas.openxmlformats.org/officeDocument/2006/relationships/image" Target="../media/image-7-3.png"/><Relationship Id="rId6" Type="http://schemas.openxmlformats.org/officeDocument/2006/relationships/image" Target="../media/image-7-3.png"/><Relationship Id="rId7" Type="http://schemas.openxmlformats.org/officeDocument/2006/relationships/image" Target="../media/image-7-3.png"/><Relationship Id="rId8" Type="http://schemas.openxmlformats.org/officeDocument/2006/relationships/image" Target="../media/image-7-3.png"/><Relationship Id="rId9" Type="http://schemas.openxmlformats.org/officeDocument/2006/relationships/image" Target="../media/image-7-3.png"/><Relationship Id="rId10" Type="http://schemas.openxmlformats.org/officeDocument/2006/relationships/image" Target="../media/image-7-3.png"/><Relationship Id="rId11" Type="http://schemas.openxmlformats.org/officeDocument/2006/relationships/image" Target="../media/image-7-3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4.png"/><Relationship Id="rId6" Type="http://schemas.openxmlformats.org/officeDocument/2006/relationships/image" Target="../media/image-8-4.png"/><Relationship Id="rId7" Type="http://schemas.openxmlformats.org/officeDocument/2006/relationships/image" Target="../media/image-8-4.png"/><Relationship Id="rId8" Type="http://schemas.openxmlformats.org/officeDocument/2006/relationships/image" Target="../media/image-8-4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rou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448" y="502920"/>
            <a:ext cx="1828800" cy="1828800"/>
          </a:xfrm>
          <a:prstGeom prst="rect">
            <a:avLst/>
          </a:prstGeom>
          <a:effectLst>
            <a:outerShdw sx="100000" sy="100000" kx="0" ky="0" algn="bl" rotWithShape="0" blurRad="114300" dist="38100" dir="5400000">
              <a:srgbClr val="000000">
                <a:alpha val="42000"/>
              </a:srgbClr>
            </a:outerShdw>
          </a:effectLst>
        </p:spPr>
      </p:pic>
      <p:sp>
        <p:nvSpPr>
          <p:cNvPr id="3" name="Text 0"/>
          <p:cNvSpPr/>
          <p:nvPr/>
        </p:nvSpPr>
        <p:spPr>
          <a:xfrm>
            <a:off x="0" y="2487168"/>
            <a:ext cx="121916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UKM Band TelU</a:t>
            </a:r>
            <a:endParaRPr lang="en-US" sz="5000" dirty="0"/>
          </a:p>
        </p:txBody>
      </p:sp>
      <p:sp>
        <p:nvSpPr>
          <p:cNvPr id="4" name="Text 1"/>
          <p:cNvSpPr/>
          <p:nvPr/>
        </p:nvSpPr>
        <p:spPr>
          <a:xfrm>
            <a:off x="0" y="3310128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D9D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Aplikasi Mobile Koleksi Lagu UKM Band</a:t>
            </a:r>
            <a:endParaRPr lang="en-US" sz="2100" dirty="0"/>
          </a:p>
        </p:txBody>
      </p:sp>
      <p:sp>
        <p:nvSpPr>
          <p:cNvPr id="5" name="Shape 2"/>
          <p:cNvSpPr/>
          <p:nvPr/>
        </p:nvSpPr>
        <p:spPr>
          <a:xfrm>
            <a:off x="4632808" y="3913632"/>
            <a:ext cx="2926080" cy="566928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/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632808" y="3913632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Kelompok H19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1706728" y="4681728"/>
            <a:ext cx="8778240" cy="1755648"/>
          </a:xfrm>
          <a:prstGeom prst="roundRect">
            <a:avLst>
              <a:gd name="adj" fmla="val 5208"/>
            </a:avLst>
          </a:prstGeom>
          <a:solidFill>
            <a:srgbClr val="0B0B14">
              <a:alpha val="84000"/>
            </a:srgbClr>
          </a:solidFill>
          <a:ln w="15875">
            <a:solidFill>
              <a:srgbClr val="E63946">
                <a:alpha val="70000"/>
              </a:srgbClr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1706728" y="4809744"/>
            <a:ext cx="8778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Anggota Kelompok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148840" y="5285232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 Rainhard Pasaribu</a:t>
            </a:r>
            <a:endParaRPr lang="en-US" sz="160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Faisal Ihsan Santoso</a:t>
            </a:r>
            <a:endParaRPr lang="en-US" sz="160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Rizki Nata Wirawan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400800" y="5413248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Arie Farchan Fyrzatullah</a:t>
            </a:r>
            <a:endParaRPr lang="en-US" sz="160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Riyad Mustafid Amna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731520" cy="731520"/>
          </a:xfrm>
          <a:prstGeom prst="ellipse">
            <a:avLst/>
          </a:prstGeom>
          <a:solidFill>
            <a:srgbClr val="E63946"/>
          </a:solidFill>
          <a:ln/>
          <a:effectLst>
            <a:outerShdw sx="100000" sy="100000" kx="0" ky="0" algn="bl" rotWithShape="0" blurRad="114300" dist="38100" dir="5400000">
              <a:srgbClr val="000000">
                <a:alpha val="42000"/>
              </a:srgbClr>
            </a:outerShdw>
          </a:effectLst>
        </p:spPr>
      </p:sp>
      <p:pic>
        <p:nvPicPr>
          <p:cNvPr id="3" name="Image 0" descr="ic_info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" y="630936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81328" y="4572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Pendahuluan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66928" y="1481328"/>
            <a:ext cx="6903720" cy="4800600"/>
          </a:xfrm>
          <a:prstGeom prst="roundRect">
            <a:avLst>
              <a:gd name="adj" fmla="val 1905"/>
            </a:avLst>
          </a:prstGeom>
          <a:solidFill>
            <a:srgbClr val="0B0B14">
              <a:alpha val="82000"/>
            </a:srgbClr>
          </a:solidFill>
          <a:ln/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14400" y="1783080"/>
            <a:ext cx="62179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8000"/>
              </a:lnSpc>
              <a:spcAft>
                <a:spcPts val="1800"/>
              </a:spcAft>
              <a:buNone/>
            </a:pPr>
            <a:r>
              <a:rPr lang="en-US" sz="1900" dirty="0">
                <a:solidFill>
                  <a:srgbClr val="D9D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UKM Band TelU adalah aplikasi mobile berbasis Flutter yang memungkinkan mahasiswa Telkom University menikmati koleksi lagu UKM Band.</a:t>
            </a:r>
            <a:endParaRPr lang="en-US" sz="1900" dirty="0"/>
          </a:p>
          <a:p>
            <a:pPr algn="l" indent="0" marL="0">
              <a:lnSpc>
                <a:spcPct val="118000"/>
              </a:lnSpc>
              <a:spcAft>
                <a:spcPts val="1800"/>
              </a:spcAft>
              <a:buNone/>
            </a:pPr>
            <a:r>
              <a:rPr lang="en-US" sz="1900" dirty="0">
                <a:solidFill>
                  <a:srgbClr val="D9D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Pengguna dapat masuk dengan email atau akun Google, memutar lagu, membuat playlist, dan saling berinteraksi lewat komentar.</a:t>
            </a:r>
            <a:endParaRPr lang="en-US" sz="19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900" dirty="0">
                <a:solidFill>
                  <a:srgbClr val="D9D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dapat mengelola seluruh konten lagu dan data pengguna melalui dashboard khusus yang hanya bisa diakses dengan akun admin.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7699248" y="1481328"/>
            <a:ext cx="3941064" cy="1481328"/>
          </a:xfrm>
          <a:prstGeom prst="roundRect">
            <a:avLst>
              <a:gd name="adj" fmla="val 6173"/>
            </a:avLst>
          </a:prstGeom>
          <a:solidFill>
            <a:srgbClr val="0B0B14">
              <a:alpha val="86000"/>
            </a:srgbClr>
          </a:solidFill>
          <a:ln w="12700">
            <a:solidFill>
              <a:srgbClr val="E63946">
                <a:alpha val="45000"/>
              </a:srgbClr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973568" y="1847088"/>
            <a:ext cx="749808" cy="749808"/>
          </a:xfrm>
          <a:prstGeom prst="ellipse">
            <a:avLst/>
          </a:prstGeom>
          <a:solidFill>
            <a:srgbClr val="C81E2B"/>
          </a:solidFill>
          <a:ln/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pic>
        <p:nvPicPr>
          <p:cNvPr id="9" name="Image 1" descr="ic_musi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5592" y="2039112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979408" y="1682496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Putar Lagu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8979408" y="2048256"/>
            <a:ext cx="2542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AE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Dengarkan koleksi lagu langsung di aplikasi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7699248" y="3108960"/>
            <a:ext cx="3941064" cy="1481328"/>
          </a:xfrm>
          <a:prstGeom prst="roundRect">
            <a:avLst>
              <a:gd name="adj" fmla="val 6173"/>
            </a:avLst>
          </a:prstGeom>
          <a:solidFill>
            <a:srgbClr val="0B0B14">
              <a:alpha val="86000"/>
            </a:srgbClr>
          </a:solidFill>
          <a:ln w="12700">
            <a:solidFill>
              <a:srgbClr val="E63946">
                <a:alpha val="45000"/>
              </a:srgbClr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973568" y="3474720"/>
            <a:ext cx="749808" cy="749808"/>
          </a:xfrm>
          <a:prstGeom prst="ellipse">
            <a:avLst/>
          </a:prstGeom>
          <a:solidFill>
            <a:srgbClr val="C81E2B"/>
          </a:solidFill>
          <a:ln/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pic>
        <p:nvPicPr>
          <p:cNvPr id="14" name="Image 2" descr="ic_lis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5592" y="3666744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979408" y="331012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Playlist dan Komentar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8979408" y="3675888"/>
            <a:ext cx="2542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AE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playlist pribadi dan beri komentar di lagu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7699248" y="4736592"/>
            <a:ext cx="3941064" cy="1481328"/>
          </a:xfrm>
          <a:prstGeom prst="roundRect">
            <a:avLst>
              <a:gd name="adj" fmla="val 6173"/>
            </a:avLst>
          </a:prstGeom>
          <a:solidFill>
            <a:srgbClr val="0B0B14">
              <a:alpha val="86000"/>
            </a:srgbClr>
          </a:solidFill>
          <a:ln w="12700">
            <a:solidFill>
              <a:srgbClr val="E63946">
                <a:alpha val="45000"/>
              </a:srgbClr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973568" y="5102352"/>
            <a:ext cx="749808" cy="749808"/>
          </a:xfrm>
          <a:prstGeom prst="ellipse">
            <a:avLst/>
          </a:prstGeom>
          <a:solidFill>
            <a:srgbClr val="C81E2B"/>
          </a:solidFill>
          <a:ln/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pic>
        <p:nvPicPr>
          <p:cNvPr id="19" name="Image 3" descr="ic_admi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5592" y="5294376"/>
            <a:ext cx="365760" cy="3657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979408" y="493776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Kelola oleh Admin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8979408" y="5303520"/>
            <a:ext cx="2542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AE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Konten dan pengguna diatur lewat dashboard khusus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731520" cy="731520"/>
          </a:xfrm>
          <a:prstGeom prst="ellipse">
            <a:avLst/>
          </a:prstGeom>
          <a:solidFill>
            <a:srgbClr val="E63946"/>
          </a:solidFill>
          <a:ln/>
          <a:effectLst>
            <a:outerShdw sx="100000" sy="100000" kx="0" ky="0" algn="bl" rotWithShape="0" blurRad="114300" dist="38100" dir="5400000">
              <a:srgbClr val="000000">
                <a:alpha val="42000"/>
              </a:srgbClr>
            </a:outerShdw>
          </a:effectLst>
        </p:spPr>
      </p:sp>
      <p:pic>
        <p:nvPicPr>
          <p:cNvPr id="3" name="Image 0" descr="ic_sta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" y="630936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81328" y="4572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Teknologi yang Digunakan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66928" y="1508760"/>
            <a:ext cx="2697480" cy="2240280"/>
          </a:xfrm>
          <a:prstGeom prst="roundRect">
            <a:avLst>
              <a:gd name="adj" fmla="val 4082"/>
            </a:avLst>
          </a:prstGeom>
          <a:solidFill>
            <a:srgbClr val="0B0B14">
              <a:alpha val="84000"/>
            </a:srgbClr>
          </a:solidFill>
          <a:ln w="12700">
            <a:solidFill>
              <a:srgbClr val="E63946">
                <a:alpha val="45000"/>
              </a:srgbClr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458468" y="1801368"/>
            <a:ext cx="914400" cy="914400"/>
          </a:xfrm>
          <a:prstGeom prst="ellipse">
            <a:avLst/>
          </a:prstGeom>
          <a:solidFill>
            <a:srgbClr val="C81E2B"/>
          </a:solidFill>
          <a:ln/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pic>
        <p:nvPicPr>
          <p:cNvPr id="7" name="Image 1" descr="ic_d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9636" y="2002536"/>
            <a:ext cx="512064" cy="51206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04088" y="280720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E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Bahasa Pemrograman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704088" y="3136392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3383280" y="1508760"/>
            <a:ext cx="2697480" cy="2240280"/>
          </a:xfrm>
          <a:prstGeom prst="roundRect">
            <a:avLst>
              <a:gd name="adj" fmla="val 4082"/>
            </a:avLst>
          </a:prstGeom>
          <a:solidFill>
            <a:srgbClr val="0B0B14">
              <a:alpha val="84000"/>
            </a:srgbClr>
          </a:solidFill>
          <a:ln w="12700">
            <a:solidFill>
              <a:srgbClr val="E63946">
                <a:alpha val="45000"/>
              </a:srgbClr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274820" y="1801368"/>
            <a:ext cx="914400" cy="914400"/>
          </a:xfrm>
          <a:prstGeom prst="ellipse">
            <a:avLst/>
          </a:prstGeom>
          <a:solidFill>
            <a:srgbClr val="C81E2B"/>
          </a:solidFill>
          <a:ln/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pic>
        <p:nvPicPr>
          <p:cNvPr id="12" name="Image 2" descr="ic_flutt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5988" y="2002536"/>
            <a:ext cx="512064" cy="51206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520440" y="280720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E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3520440" y="3136392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</a:t>
            </a:r>
            <a:endParaRPr lang="en-US" sz="1800" dirty="0"/>
          </a:p>
        </p:txBody>
      </p:sp>
      <p:sp>
        <p:nvSpPr>
          <p:cNvPr id="15" name="Shape 10"/>
          <p:cNvSpPr/>
          <p:nvPr/>
        </p:nvSpPr>
        <p:spPr>
          <a:xfrm>
            <a:off x="6199632" y="1508760"/>
            <a:ext cx="2697480" cy="2240280"/>
          </a:xfrm>
          <a:prstGeom prst="roundRect">
            <a:avLst>
              <a:gd name="adj" fmla="val 4082"/>
            </a:avLst>
          </a:prstGeom>
          <a:solidFill>
            <a:srgbClr val="0B0B14">
              <a:alpha val="84000"/>
            </a:srgbClr>
          </a:solidFill>
          <a:ln w="12700">
            <a:solidFill>
              <a:srgbClr val="E63946">
                <a:alpha val="45000"/>
              </a:srgbClr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7091172" y="1801368"/>
            <a:ext cx="914400" cy="914400"/>
          </a:xfrm>
          <a:prstGeom prst="ellipse">
            <a:avLst/>
          </a:prstGeom>
          <a:solidFill>
            <a:srgbClr val="C81E2B"/>
          </a:solidFill>
          <a:ln/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pic>
        <p:nvPicPr>
          <p:cNvPr id="17" name="Image 3" descr="ic_firebas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2340" y="2002536"/>
            <a:ext cx="512064" cy="51206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336792" y="280720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E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Cloud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6336792" y="3136392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Firestore</a:t>
            </a:r>
            <a:endParaRPr lang="en-US" sz="1800" dirty="0"/>
          </a:p>
        </p:txBody>
      </p:sp>
      <p:sp>
        <p:nvSpPr>
          <p:cNvPr id="20" name="Shape 14"/>
          <p:cNvSpPr/>
          <p:nvPr/>
        </p:nvSpPr>
        <p:spPr>
          <a:xfrm>
            <a:off x="9015984" y="1508760"/>
            <a:ext cx="2697480" cy="2240280"/>
          </a:xfrm>
          <a:prstGeom prst="roundRect">
            <a:avLst>
              <a:gd name="adj" fmla="val 4082"/>
            </a:avLst>
          </a:prstGeom>
          <a:solidFill>
            <a:srgbClr val="0B0B14">
              <a:alpha val="84000"/>
            </a:srgbClr>
          </a:solidFill>
          <a:ln w="12700">
            <a:solidFill>
              <a:srgbClr val="E63946">
                <a:alpha val="45000"/>
              </a:srgbClr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9907524" y="1801368"/>
            <a:ext cx="914400" cy="914400"/>
          </a:xfrm>
          <a:prstGeom prst="ellipse">
            <a:avLst/>
          </a:prstGeom>
          <a:solidFill>
            <a:srgbClr val="C81E2B"/>
          </a:solidFill>
          <a:ln/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pic>
        <p:nvPicPr>
          <p:cNvPr id="22" name="Image 4" descr="ic_auth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08692" y="2002536"/>
            <a:ext cx="512064" cy="51206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153144" y="280720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E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Autentikasi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9153144" y="3136392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</a:t>
            </a:r>
            <a:endParaRPr lang="en-US" sz="1800" dirty="0"/>
          </a:p>
        </p:txBody>
      </p:sp>
      <p:sp>
        <p:nvSpPr>
          <p:cNvPr id="25" name="Shape 18"/>
          <p:cNvSpPr/>
          <p:nvPr/>
        </p:nvSpPr>
        <p:spPr>
          <a:xfrm>
            <a:off x="566928" y="3950208"/>
            <a:ext cx="2697480" cy="2240280"/>
          </a:xfrm>
          <a:prstGeom prst="roundRect">
            <a:avLst>
              <a:gd name="adj" fmla="val 4082"/>
            </a:avLst>
          </a:prstGeom>
          <a:solidFill>
            <a:srgbClr val="0B0B14">
              <a:alpha val="84000"/>
            </a:srgbClr>
          </a:solidFill>
          <a:ln w="12700">
            <a:solidFill>
              <a:srgbClr val="E63946">
                <a:alpha val="45000"/>
              </a:srgbClr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1458468" y="4242816"/>
            <a:ext cx="914400" cy="914400"/>
          </a:xfrm>
          <a:prstGeom prst="ellipse">
            <a:avLst/>
          </a:prstGeom>
          <a:solidFill>
            <a:srgbClr val="C81E2B"/>
          </a:solidFill>
          <a:ln/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pic>
        <p:nvPicPr>
          <p:cNvPr id="27" name="Image 5" descr="ic_googl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59636" y="4443984"/>
            <a:ext cx="512064" cy="512064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704088" y="5248656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E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Google</a:t>
            </a:r>
            <a:endParaRPr lang="en-US" sz="1300" dirty="0"/>
          </a:p>
        </p:txBody>
      </p:sp>
      <p:sp>
        <p:nvSpPr>
          <p:cNvPr id="29" name="Text 21"/>
          <p:cNvSpPr/>
          <p:nvPr/>
        </p:nvSpPr>
        <p:spPr>
          <a:xfrm>
            <a:off x="704088" y="5577840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Sign-In</a:t>
            </a:r>
            <a:endParaRPr lang="en-US" sz="1800" dirty="0"/>
          </a:p>
        </p:txBody>
      </p:sp>
      <p:sp>
        <p:nvSpPr>
          <p:cNvPr id="30" name="Shape 22"/>
          <p:cNvSpPr/>
          <p:nvPr/>
        </p:nvSpPr>
        <p:spPr>
          <a:xfrm>
            <a:off x="3383280" y="3950208"/>
            <a:ext cx="2697480" cy="2240280"/>
          </a:xfrm>
          <a:prstGeom prst="roundRect">
            <a:avLst>
              <a:gd name="adj" fmla="val 4082"/>
            </a:avLst>
          </a:prstGeom>
          <a:solidFill>
            <a:srgbClr val="0B0B14">
              <a:alpha val="84000"/>
            </a:srgbClr>
          </a:solidFill>
          <a:ln w="12700">
            <a:solidFill>
              <a:srgbClr val="E63946">
                <a:alpha val="45000"/>
              </a:srgbClr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4274820" y="4242816"/>
            <a:ext cx="914400" cy="914400"/>
          </a:xfrm>
          <a:prstGeom prst="ellipse">
            <a:avLst/>
          </a:prstGeom>
          <a:solidFill>
            <a:srgbClr val="C81E2B"/>
          </a:solidFill>
          <a:ln/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pic>
        <p:nvPicPr>
          <p:cNvPr id="32" name="Image 6" descr="ic_storag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75988" y="4443984"/>
            <a:ext cx="512064" cy="512064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3520440" y="5248656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E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Penyimpanan Lokal</a:t>
            </a:r>
            <a:endParaRPr lang="en-US" sz="1300" dirty="0"/>
          </a:p>
        </p:txBody>
      </p:sp>
      <p:sp>
        <p:nvSpPr>
          <p:cNvPr id="34" name="Text 25"/>
          <p:cNvSpPr/>
          <p:nvPr/>
        </p:nvSpPr>
        <p:spPr>
          <a:xfrm>
            <a:off x="3520440" y="5577840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SharedPreferences</a:t>
            </a:r>
            <a:endParaRPr lang="en-US" sz="1800" dirty="0"/>
          </a:p>
        </p:txBody>
      </p:sp>
      <p:sp>
        <p:nvSpPr>
          <p:cNvPr id="35" name="Shape 26"/>
          <p:cNvSpPr/>
          <p:nvPr/>
        </p:nvSpPr>
        <p:spPr>
          <a:xfrm>
            <a:off x="6199632" y="3950208"/>
            <a:ext cx="2697480" cy="2240280"/>
          </a:xfrm>
          <a:prstGeom prst="roundRect">
            <a:avLst>
              <a:gd name="adj" fmla="val 4082"/>
            </a:avLst>
          </a:prstGeom>
          <a:solidFill>
            <a:srgbClr val="0B0B14">
              <a:alpha val="84000"/>
            </a:srgbClr>
          </a:solidFill>
          <a:ln w="12700">
            <a:solidFill>
              <a:srgbClr val="E63946">
                <a:alpha val="45000"/>
              </a:srgbClr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36" name="Shape 27"/>
          <p:cNvSpPr/>
          <p:nvPr/>
        </p:nvSpPr>
        <p:spPr>
          <a:xfrm>
            <a:off x="7091172" y="4242816"/>
            <a:ext cx="914400" cy="914400"/>
          </a:xfrm>
          <a:prstGeom prst="ellipse">
            <a:avLst/>
          </a:prstGeom>
          <a:solidFill>
            <a:srgbClr val="C81E2B"/>
          </a:solidFill>
          <a:ln/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pic>
        <p:nvPicPr>
          <p:cNvPr id="37" name="Image 7" descr="ic_music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92340" y="4443984"/>
            <a:ext cx="512064" cy="512064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6336792" y="5248656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E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Pemutar Musik</a:t>
            </a:r>
            <a:endParaRPr lang="en-US" sz="1300" dirty="0"/>
          </a:p>
        </p:txBody>
      </p:sp>
      <p:sp>
        <p:nvSpPr>
          <p:cNvPr id="39" name="Text 29"/>
          <p:cNvSpPr/>
          <p:nvPr/>
        </p:nvSpPr>
        <p:spPr>
          <a:xfrm>
            <a:off x="6336792" y="5577840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AudioPlayers</a:t>
            </a:r>
            <a:endParaRPr lang="en-US" sz="1800" dirty="0"/>
          </a:p>
        </p:txBody>
      </p:sp>
      <p:sp>
        <p:nvSpPr>
          <p:cNvPr id="40" name="Shape 30"/>
          <p:cNvSpPr/>
          <p:nvPr/>
        </p:nvSpPr>
        <p:spPr>
          <a:xfrm>
            <a:off x="9015984" y="3950208"/>
            <a:ext cx="2697480" cy="2240280"/>
          </a:xfrm>
          <a:prstGeom prst="roundRect">
            <a:avLst>
              <a:gd name="adj" fmla="val 4082"/>
            </a:avLst>
          </a:prstGeom>
          <a:solidFill>
            <a:srgbClr val="0B0B14">
              <a:alpha val="84000"/>
            </a:srgbClr>
          </a:solidFill>
          <a:ln w="12700">
            <a:solidFill>
              <a:srgbClr val="E63946">
                <a:alpha val="45000"/>
              </a:srgbClr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41" name="Shape 31"/>
          <p:cNvSpPr/>
          <p:nvPr/>
        </p:nvSpPr>
        <p:spPr>
          <a:xfrm>
            <a:off x="9907524" y="4242816"/>
            <a:ext cx="914400" cy="914400"/>
          </a:xfrm>
          <a:prstGeom prst="ellipse">
            <a:avLst/>
          </a:prstGeom>
          <a:solidFill>
            <a:srgbClr val="C81E2B"/>
          </a:solidFill>
          <a:ln/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pic>
        <p:nvPicPr>
          <p:cNvPr id="42" name="Image 8" descr="ic_stat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08692" y="4443984"/>
            <a:ext cx="512064" cy="512064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9153144" y="5248656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E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Management</a:t>
            </a:r>
            <a:endParaRPr lang="en-US" sz="1300" dirty="0"/>
          </a:p>
        </p:txBody>
      </p:sp>
      <p:sp>
        <p:nvSpPr>
          <p:cNvPr id="44" name="Text 33"/>
          <p:cNvSpPr/>
          <p:nvPr/>
        </p:nvSpPr>
        <p:spPr>
          <a:xfrm>
            <a:off x="9153144" y="5577840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731520" cy="731520"/>
          </a:xfrm>
          <a:prstGeom prst="ellipse">
            <a:avLst/>
          </a:prstGeom>
          <a:solidFill>
            <a:srgbClr val="E63946"/>
          </a:solidFill>
          <a:ln/>
          <a:effectLst>
            <a:outerShdw sx="100000" sy="100000" kx="0" ky="0" algn="bl" rotWithShape="0" blurRad="114300" dist="38100" dir="5400000">
              <a:srgbClr val="000000">
                <a:alpha val="42000"/>
              </a:srgbClr>
            </a:outerShdw>
          </a:effectLst>
        </p:spPr>
      </p:sp>
      <p:pic>
        <p:nvPicPr>
          <p:cNvPr id="3" name="Image 0" descr="ic_folder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" y="630936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81328" y="4572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 Folder Penting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66928" y="1481328"/>
            <a:ext cx="11064240" cy="4846320"/>
          </a:xfrm>
          <a:prstGeom prst="roundRect">
            <a:avLst>
              <a:gd name="adj" fmla="val 1887"/>
            </a:avLst>
          </a:prstGeom>
          <a:solidFill>
            <a:srgbClr val="0B0B14">
              <a:alpha val="82000"/>
            </a:srgbClr>
          </a:solidFill>
          <a:ln/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pic>
        <p:nvPicPr>
          <p:cNvPr id="6" name="Image 1" descr="ic_fold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764792"/>
            <a:ext cx="237744" cy="23774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07592" y="1700784"/>
            <a:ext cx="402336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ukm_band_mobile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5760720" y="1700784"/>
            <a:ext cx="548640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AE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 utama proyek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868680" y="2052828"/>
            <a:ext cx="10469880" cy="352044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pic>
        <p:nvPicPr>
          <p:cNvPr id="10" name="Image 2" descr="ic_fold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3040" y="2135124"/>
            <a:ext cx="237744" cy="23774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810512" y="2071116"/>
            <a:ext cx="352044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</a:t>
            </a:r>
            <a:endParaRPr lang="en-US" sz="1550" dirty="0"/>
          </a:p>
        </p:txBody>
      </p:sp>
      <p:sp>
        <p:nvSpPr>
          <p:cNvPr id="12" name="Text 7"/>
          <p:cNvSpPr/>
          <p:nvPr/>
        </p:nvSpPr>
        <p:spPr>
          <a:xfrm>
            <a:off x="5760720" y="2071116"/>
            <a:ext cx="548640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AE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berisi seluruh kode aplikasi</a:t>
            </a:r>
            <a:endParaRPr lang="en-US" sz="1450" dirty="0"/>
          </a:p>
        </p:txBody>
      </p:sp>
      <p:sp>
        <p:nvSpPr>
          <p:cNvPr id="13" name="Shape 8"/>
          <p:cNvSpPr/>
          <p:nvPr/>
        </p:nvSpPr>
        <p:spPr>
          <a:xfrm>
            <a:off x="2029968" y="2560320"/>
            <a:ext cx="100584" cy="100584"/>
          </a:xfrm>
          <a:prstGeom prst="ellipse">
            <a:avLst/>
          </a:prstGeom>
          <a:solidFill>
            <a:srgbClr val="AEB0C2"/>
          </a:solidFill>
          <a:ln/>
        </p:spPr>
      </p:sp>
      <p:sp>
        <p:nvSpPr>
          <p:cNvPr id="14" name="Text 9"/>
          <p:cNvSpPr/>
          <p:nvPr/>
        </p:nvSpPr>
        <p:spPr>
          <a:xfrm>
            <a:off x="2313432" y="2441448"/>
            <a:ext cx="301752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dirty="0">
                <a:solidFill>
                  <a:srgbClr val="D9D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main.dart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5760720" y="2441448"/>
            <a:ext cx="548640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AE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titik awal aplikasi</a:t>
            </a:r>
            <a:endParaRPr lang="en-US" sz="1450" dirty="0"/>
          </a:p>
        </p:txBody>
      </p:sp>
      <p:sp>
        <p:nvSpPr>
          <p:cNvPr id="16" name="Shape 11"/>
          <p:cNvSpPr/>
          <p:nvPr/>
        </p:nvSpPr>
        <p:spPr>
          <a:xfrm>
            <a:off x="868680" y="2793492"/>
            <a:ext cx="10469880" cy="352044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pic>
        <p:nvPicPr>
          <p:cNvPr id="17" name="Image 3" descr="ic_fold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5960" y="2875788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2313432" y="2811780"/>
            <a:ext cx="301752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</a:t>
            </a:r>
            <a:endParaRPr lang="en-US" sz="1550" dirty="0"/>
          </a:p>
        </p:txBody>
      </p:sp>
      <p:sp>
        <p:nvSpPr>
          <p:cNvPr id="19" name="Text 13"/>
          <p:cNvSpPr/>
          <p:nvPr/>
        </p:nvSpPr>
        <p:spPr>
          <a:xfrm>
            <a:off x="5760720" y="2811780"/>
            <a:ext cx="548640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AE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semua halaman aplikasi</a:t>
            </a:r>
            <a:endParaRPr lang="en-US" sz="1450" dirty="0"/>
          </a:p>
        </p:txBody>
      </p:sp>
      <p:pic>
        <p:nvPicPr>
          <p:cNvPr id="20" name="Image 4" descr="ic_folde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65960" y="3246120"/>
            <a:ext cx="237744" cy="23774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2313432" y="3182112"/>
            <a:ext cx="301752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550" dirty="0"/>
          </a:p>
        </p:txBody>
      </p:sp>
      <p:sp>
        <p:nvSpPr>
          <p:cNvPr id="22" name="Text 15"/>
          <p:cNvSpPr/>
          <p:nvPr/>
        </p:nvSpPr>
        <p:spPr>
          <a:xfrm>
            <a:off x="5760720" y="3182112"/>
            <a:ext cx="548640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AE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 data</a:t>
            </a:r>
            <a:endParaRPr lang="en-US" sz="1450" dirty="0"/>
          </a:p>
        </p:txBody>
      </p:sp>
      <p:sp>
        <p:nvSpPr>
          <p:cNvPr id="23" name="Shape 16"/>
          <p:cNvSpPr/>
          <p:nvPr/>
        </p:nvSpPr>
        <p:spPr>
          <a:xfrm>
            <a:off x="868680" y="3534156"/>
            <a:ext cx="10469880" cy="352044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pic>
        <p:nvPicPr>
          <p:cNvPr id="24" name="Image 5" descr="ic_folde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65960" y="3616452"/>
            <a:ext cx="237744" cy="237744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2313432" y="3552444"/>
            <a:ext cx="301752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providers</a:t>
            </a:r>
            <a:endParaRPr lang="en-US" sz="1550" dirty="0"/>
          </a:p>
        </p:txBody>
      </p:sp>
      <p:sp>
        <p:nvSpPr>
          <p:cNvPr id="26" name="Text 18"/>
          <p:cNvSpPr/>
          <p:nvPr/>
        </p:nvSpPr>
        <p:spPr>
          <a:xfrm>
            <a:off x="5760720" y="3552444"/>
            <a:ext cx="548640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AE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pengelola state</a:t>
            </a:r>
            <a:endParaRPr lang="en-US" sz="1450" dirty="0"/>
          </a:p>
        </p:txBody>
      </p:sp>
      <p:pic>
        <p:nvPicPr>
          <p:cNvPr id="27" name="Image 6" descr="ic_folde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65960" y="3986784"/>
            <a:ext cx="237744" cy="237744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2313432" y="3922776"/>
            <a:ext cx="301752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550" dirty="0"/>
          </a:p>
        </p:txBody>
      </p:sp>
      <p:sp>
        <p:nvSpPr>
          <p:cNvPr id="29" name="Text 20"/>
          <p:cNvSpPr/>
          <p:nvPr/>
        </p:nvSpPr>
        <p:spPr>
          <a:xfrm>
            <a:off x="5760720" y="3922776"/>
            <a:ext cx="548640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AE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koneksi ke Firebase</a:t>
            </a:r>
            <a:endParaRPr lang="en-US" sz="1450" dirty="0"/>
          </a:p>
        </p:txBody>
      </p:sp>
      <p:sp>
        <p:nvSpPr>
          <p:cNvPr id="30" name="Shape 21"/>
          <p:cNvSpPr/>
          <p:nvPr/>
        </p:nvSpPr>
        <p:spPr>
          <a:xfrm>
            <a:off x="868680" y="4274820"/>
            <a:ext cx="10469880" cy="352044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pic>
        <p:nvPicPr>
          <p:cNvPr id="31" name="Image 7" descr="ic_folde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65960" y="4357116"/>
            <a:ext cx="237744" cy="237744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2313432" y="4293108"/>
            <a:ext cx="301752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widgets</a:t>
            </a:r>
            <a:endParaRPr lang="en-US" sz="1550" dirty="0"/>
          </a:p>
        </p:txBody>
      </p:sp>
      <p:sp>
        <p:nvSpPr>
          <p:cNvPr id="33" name="Text 23"/>
          <p:cNvSpPr/>
          <p:nvPr/>
        </p:nvSpPr>
        <p:spPr>
          <a:xfrm>
            <a:off x="5760720" y="4293108"/>
            <a:ext cx="548640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AE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komponen antarmuka</a:t>
            </a:r>
            <a:endParaRPr lang="en-US" sz="1450" dirty="0"/>
          </a:p>
        </p:txBody>
      </p:sp>
      <p:pic>
        <p:nvPicPr>
          <p:cNvPr id="34" name="Image 8" descr="ic_folder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63040" y="4727448"/>
            <a:ext cx="237744" cy="237744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1810512" y="4663440"/>
            <a:ext cx="352044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</a:t>
            </a:r>
            <a:endParaRPr lang="en-US" sz="1550" dirty="0"/>
          </a:p>
        </p:txBody>
      </p:sp>
      <p:sp>
        <p:nvSpPr>
          <p:cNvPr id="36" name="Text 25"/>
          <p:cNvSpPr/>
          <p:nvPr/>
        </p:nvSpPr>
        <p:spPr>
          <a:xfrm>
            <a:off x="5760720" y="4663440"/>
            <a:ext cx="548640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AE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berisi aset aplikasi</a:t>
            </a:r>
            <a:endParaRPr lang="en-US" sz="1450" dirty="0"/>
          </a:p>
        </p:txBody>
      </p:sp>
      <p:sp>
        <p:nvSpPr>
          <p:cNvPr id="37" name="Shape 26"/>
          <p:cNvSpPr/>
          <p:nvPr/>
        </p:nvSpPr>
        <p:spPr>
          <a:xfrm>
            <a:off x="868680" y="5015484"/>
            <a:ext cx="10469880" cy="352044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pic>
        <p:nvPicPr>
          <p:cNvPr id="38" name="Image 9" descr="ic_folder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65960" y="5097780"/>
            <a:ext cx="237744" cy="237744"/>
          </a:xfrm>
          <a:prstGeom prst="rect">
            <a:avLst/>
          </a:prstGeom>
        </p:spPr>
      </p:pic>
      <p:sp>
        <p:nvSpPr>
          <p:cNvPr id="39" name="Text 27"/>
          <p:cNvSpPr/>
          <p:nvPr/>
        </p:nvSpPr>
        <p:spPr>
          <a:xfrm>
            <a:off x="2313432" y="5033772"/>
            <a:ext cx="301752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</a:t>
            </a:r>
            <a:endParaRPr lang="en-US" sz="1550" dirty="0"/>
          </a:p>
        </p:txBody>
      </p:sp>
      <p:sp>
        <p:nvSpPr>
          <p:cNvPr id="40" name="Text 28"/>
          <p:cNvSpPr/>
          <p:nvPr/>
        </p:nvSpPr>
        <p:spPr>
          <a:xfrm>
            <a:off x="5760720" y="5033772"/>
            <a:ext cx="548640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AE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gambar dan cover lagu</a:t>
            </a:r>
            <a:endParaRPr lang="en-US" sz="1450" dirty="0"/>
          </a:p>
        </p:txBody>
      </p:sp>
      <p:pic>
        <p:nvPicPr>
          <p:cNvPr id="41" name="Image 10" descr="ic_folder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965960" y="5468112"/>
            <a:ext cx="237744" cy="237744"/>
          </a:xfrm>
          <a:prstGeom prst="rect">
            <a:avLst/>
          </a:prstGeom>
        </p:spPr>
      </p:pic>
      <p:sp>
        <p:nvSpPr>
          <p:cNvPr id="42" name="Text 29"/>
          <p:cNvSpPr/>
          <p:nvPr/>
        </p:nvSpPr>
        <p:spPr>
          <a:xfrm>
            <a:off x="2313432" y="5404104"/>
            <a:ext cx="301752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songs</a:t>
            </a:r>
            <a:endParaRPr lang="en-US" sz="1550" dirty="0"/>
          </a:p>
        </p:txBody>
      </p:sp>
      <p:sp>
        <p:nvSpPr>
          <p:cNvPr id="43" name="Text 30"/>
          <p:cNvSpPr/>
          <p:nvPr/>
        </p:nvSpPr>
        <p:spPr>
          <a:xfrm>
            <a:off x="5760720" y="5404104"/>
            <a:ext cx="548640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AE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berkas audio wav</a:t>
            </a:r>
            <a:endParaRPr lang="en-US" sz="1450" dirty="0"/>
          </a:p>
        </p:txBody>
      </p:sp>
      <p:sp>
        <p:nvSpPr>
          <p:cNvPr id="44" name="Shape 31"/>
          <p:cNvSpPr/>
          <p:nvPr/>
        </p:nvSpPr>
        <p:spPr>
          <a:xfrm>
            <a:off x="868680" y="5756148"/>
            <a:ext cx="10469880" cy="352044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pic>
        <p:nvPicPr>
          <p:cNvPr id="45" name="Image 11" descr="ic_folder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63040" y="5838444"/>
            <a:ext cx="237744" cy="237744"/>
          </a:xfrm>
          <a:prstGeom prst="rect">
            <a:avLst/>
          </a:prstGeom>
        </p:spPr>
      </p:pic>
      <p:sp>
        <p:nvSpPr>
          <p:cNvPr id="46" name="Text 32"/>
          <p:cNvSpPr/>
          <p:nvPr/>
        </p:nvSpPr>
        <p:spPr>
          <a:xfrm>
            <a:off x="1810512" y="5774436"/>
            <a:ext cx="352044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</a:t>
            </a:r>
            <a:endParaRPr lang="en-US" sz="1550" dirty="0"/>
          </a:p>
        </p:txBody>
      </p:sp>
      <p:sp>
        <p:nvSpPr>
          <p:cNvPr id="47" name="Text 33"/>
          <p:cNvSpPr/>
          <p:nvPr/>
        </p:nvSpPr>
        <p:spPr>
          <a:xfrm>
            <a:off x="5760720" y="5774436"/>
            <a:ext cx="548640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AE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konfigurasi Android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731520" cy="731520"/>
          </a:xfrm>
          <a:prstGeom prst="ellipse">
            <a:avLst/>
          </a:prstGeom>
          <a:solidFill>
            <a:srgbClr val="E63946"/>
          </a:solidFill>
          <a:ln/>
          <a:effectLst>
            <a:outerShdw sx="100000" sy="100000" kx="0" ky="0" algn="bl" rotWithShape="0" blurRad="114300" dist="38100" dir="5400000">
              <a:srgbClr val="000000">
                <a:alpha val="42000"/>
              </a:srgbClr>
            </a:outerShdw>
          </a:effectLst>
        </p:spPr>
      </p:sp>
      <p:pic>
        <p:nvPicPr>
          <p:cNvPr id="3" name="Image 0" descr="ic_flow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" y="630936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81328" y="4572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Halaman dalam Aplikasi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3992728" y="1481328"/>
            <a:ext cx="4206240" cy="713232"/>
          </a:xfrm>
          <a:prstGeom prst="roundRect">
            <a:avLst>
              <a:gd name="adj" fmla="val 12821"/>
            </a:avLst>
          </a:prstGeom>
          <a:solidFill>
            <a:srgbClr val="1A0E12">
              <a:alpha val="88000"/>
            </a:srgbClr>
          </a:solidFill>
          <a:ln w="20320">
            <a:solidFill>
              <a:srgbClr val="E63946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3992728" y="1481328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Screen</a:t>
            </a:r>
            <a:endParaRPr lang="en-US" sz="16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E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halaman pertama dibuka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095848" y="2194560"/>
            <a:ext cx="0" cy="292608"/>
          </a:xfrm>
          <a:prstGeom prst="line">
            <a:avLst/>
          </a:prstGeom>
          <a:noFill/>
          <a:ln w="31750">
            <a:solidFill>
              <a:srgbClr val="E63946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3489808" y="2487168"/>
            <a:ext cx="2331720" cy="640080"/>
          </a:xfrm>
          <a:prstGeom prst="roundRect">
            <a:avLst>
              <a:gd name="adj" fmla="val 14286"/>
            </a:avLst>
          </a:prstGeom>
          <a:solidFill>
            <a:srgbClr val="0B0B14">
              <a:alpha val="88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489808" y="248716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370168" y="2487168"/>
            <a:ext cx="2331720" cy="640080"/>
          </a:xfrm>
          <a:prstGeom prst="roundRect">
            <a:avLst>
              <a:gd name="adj" fmla="val 14286"/>
            </a:avLst>
          </a:prstGeom>
          <a:solidFill>
            <a:srgbClr val="0B0B14">
              <a:alpha val="88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370168" y="248716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095848" y="3127248"/>
            <a:ext cx="0" cy="292608"/>
          </a:xfrm>
          <a:prstGeom prst="line">
            <a:avLst/>
          </a:prstGeom>
          <a:noFill/>
          <a:ln w="31750">
            <a:solidFill>
              <a:srgbClr val="E63946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4358488" y="3419856"/>
            <a:ext cx="3474720" cy="658368"/>
          </a:xfrm>
          <a:prstGeom prst="roundRect">
            <a:avLst>
              <a:gd name="adj" fmla="val 13889"/>
            </a:avLst>
          </a:prstGeom>
          <a:solidFill>
            <a:srgbClr val="1A0E12">
              <a:alpha val="88000"/>
            </a:srgbClr>
          </a:solidFill>
          <a:ln w="20320">
            <a:solidFill>
              <a:srgbClr val="E63946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358488" y="3419856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Cek Role Pengguna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095848" y="4078224"/>
            <a:ext cx="0" cy="201168"/>
          </a:xfrm>
          <a:prstGeom prst="line">
            <a:avLst/>
          </a:prstGeom>
          <a:noFill/>
          <a:ln w="31750">
            <a:solidFill>
              <a:srgbClr val="E6394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352648" y="4279392"/>
            <a:ext cx="5486400" cy="0"/>
          </a:xfrm>
          <a:prstGeom prst="line">
            <a:avLst/>
          </a:prstGeom>
          <a:noFill/>
          <a:ln w="31750">
            <a:solidFill>
              <a:srgbClr val="E6394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352648" y="4279392"/>
            <a:ext cx="0" cy="292608"/>
          </a:xfrm>
          <a:prstGeom prst="line">
            <a:avLst/>
          </a:prstGeom>
          <a:noFill/>
          <a:ln w="31750">
            <a:solidFill>
              <a:srgbClr val="E63946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8839048" y="4279392"/>
            <a:ext cx="0" cy="292608"/>
          </a:xfrm>
          <a:prstGeom prst="line">
            <a:avLst/>
          </a:prstGeom>
          <a:noFill/>
          <a:ln w="31750">
            <a:solidFill>
              <a:srgbClr val="E63946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2163928" y="4572000"/>
            <a:ext cx="2377440" cy="603504"/>
          </a:xfrm>
          <a:prstGeom prst="roundRect">
            <a:avLst>
              <a:gd name="adj" fmla="val 15152"/>
            </a:avLst>
          </a:prstGeom>
          <a:solidFill>
            <a:srgbClr val="0B0B14">
              <a:alpha val="88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2163928" y="4572000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Pengguna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650328" y="4572000"/>
            <a:ext cx="2377440" cy="603504"/>
          </a:xfrm>
          <a:prstGeom prst="roundRect">
            <a:avLst>
              <a:gd name="adj" fmla="val 15152"/>
            </a:avLst>
          </a:prstGeom>
          <a:solidFill>
            <a:srgbClr val="0B0B14">
              <a:alpha val="88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7650328" y="4572000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3352648" y="5175504"/>
            <a:ext cx="0" cy="292608"/>
          </a:xfrm>
          <a:prstGeom prst="line">
            <a:avLst/>
          </a:prstGeom>
          <a:noFill/>
          <a:ln w="31750">
            <a:solidFill>
              <a:srgbClr val="E63946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8839048" y="5175504"/>
            <a:ext cx="0" cy="292608"/>
          </a:xfrm>
          <a:prstGeom prst="line">
            <a:avLst/>
          </a:prstGeom>
          <a:noFill/>
          <a:ln w="31750">
            <a:solidFill>
              <a:srgbClr val="E63946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2163928" y="5468112"/>
            <a:ext cx="2377440" cy="676656"/>
          </a:xfrm>
          <a:prstGeom prst="roundRect">
            <a:avLst>
              <a:gd name="adj" fmla="val 13514"/>
            </a:avLst>
          </a:prstGeom>
          <a:solidFill>
            <a:srgbClr val="1A0E12">
              <a:alpha val="88000"/>
            </a:srgbClr>
          </a:solidFill>
          <a:ln w="20320">
            <a:solidFill>
              <a:srgbClr val="E63946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2163928" y="5468112"/>
            <a:ext cx="2377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Screen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7650328" y="5468112"/>
            <a:ext cx="2377440" cy="676656"/>
          </a:xfrm>
          <a:prstGeom prst="roundRect">
            <a:avLst>
              <a:gd name="adj" fmla="val 13514"/>
            </a:avLst>
          </a:prstGeom>
          <a:solidFill>
            <a:srgbClr val="1A0E12">
              <a:alpha val="88000"/>
            </a:srgbClr>
          </a:solidFill>
          <a:ln w="20320">
            <a:solidFill>
              <a:srgbClr val="E63946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7650328" y="5468112"/>
            <a:ext cx="2377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731520" cy="731520"/>
          </a:xfrm>
          <a:prstGeom prst="ellipse">
            <a:avLst/>
          </a:prstGeom>
          <a:solidFill>
            <a:srgbClr val="E63946"/>
          </a:solidFill>
          <a:ln/>
          <a:effectLst>
            <a:outerShdw sx="100000" sy="100000" kx="0" ky="0" algn="bl" rotWithShape="0" blurRad="114300" dist="38100" dir="5400000">
              <a:srgbClr val="000000">
                <a:alpha val="42000"/>
              </a:srgbClr>
            </a:outerShdw>
          </a:effectLst>
        </p:spPr>
      </p:sp>
      <p:pic>
        <p:nvPicPr>
          <p:cNvPr id="3" name="Image 0" descr="ic_feat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" y="630936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81328" y="4572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 Lengkap Aplikasi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66928" y="137160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 Pengguna</a:t>
            </a:r>
            <a:endParaRPr lang="en-US" sz="17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55648"/>
          <a:ext cx="67665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4480560"/>
              </a:tblGrid>
              <a:tr h="3977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Fitur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E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Penjelasan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E2B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 atau Register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D9DA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Masuk atau daftar akun baru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2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 Google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D9DA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Masuk memakai akun Google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C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D9DA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Melihat daftar semua lagu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2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D9DA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Mencari lagu berdasarkan judul atau artis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C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Putar Lagu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D9DA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Memutar audio langsung di aplikasi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2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Like Lagu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D9DA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Menyukai lagu favorit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C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Komentar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D9DA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Menulis komentar di lagu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2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Playlist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D9DA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Membuat dan mengelola playlist pribadi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C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Riwayat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D9DA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Melihat lagu yang pernah diputar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2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 Profil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D9DA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Mengubah nama, email, dan foto profil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C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7589520" y="1371600"/>
            <a:ext cx="4050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 Admin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7589520" y="1755648"/>
            <a:ext cx="4050792" cy="1371600"/>
          </a:xfrm>
          <a:prstGeom prst="roundRect">
            <a:avLst>
              <a:gd name="adj" fmla="val 6667"/>
            </a:avLst>
          </a:prstGeom>
          <a:solidFill>
            <a:srgbClr val="0B0B14">
              <a:alpha val="86000"/>
            </a:srgbClr>
          </a:solidFill>
          <a:ln w="12700">
            <a:solidFill>
              <a:srgbClr val="E63946">
                <a:alpha val="45000"/>
              </a:srgbClr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7863840" y="2084832"/>
            <a:ext cx="713232" cy="713232"/>
          </a:xfrm>
          <a:prstGeom prst="ellipse">
            <a:avLst/>
          </a:prstGeom>
          <a:solidFill>
            <a:srgbClr val="C81E2B"/>
          </a:solidFill>
          <a:ln/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pic>
        <p:nvPicPr>
          <p:cNvPr id="10" name="Image 1" descr="ic_ch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7576" y="2258568"/>
            <a:ext cx="365760" cy="3657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778240" y="193852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8778240" y="2304288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AE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Melihat statistik total lagu, pengguna, dan jumlah putar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7589520" y="3273552"/>
            <a:ext cx="4050792" cy="1371600"/>
          </a:xfrm>
          <a:prstGeom prst="roundRect">
            <a:avLst>
              <a:gd name="adj" fmla="val 6667"/>
            </a:avLst>
          </a:prstGeom>
          <a:solidFill>
            <a:srgbClr val="0B0B14">
              <a:alpha val="86000"/>
            </a:srgbClr>
          </a:solidFill>
          <a:ln w="12700">
            <a:solidFill>
              <a:srgbClr val="E63946">
                <a:alpha val="45000"/>
              </a:srgbClr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7863840" y="3602736"/>
            <a:ext cx="713232" cy="713232"/>
          </a:xfrm>
          <a:prstGeom prst="ellipse">
            <a:avLst/>
          </a:prstGeom>
          <a:solidFill>
            <a:srgbClr val="C81E2B"/>
          </a:solidFill>
          <a:ln/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pic>
        <p:nvPicPr>
          <p:cNvPr id="15" name="Image 2" descr="ic_musi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7576" y="3776472"/>
            <a:ext cx="365760" cy="36576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778240" y="345643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Kelola Lagu</a:t>
            </a: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8778240" y="3822192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AE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Menambah, mengubah, dan menghapus lagu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7589520" y="4791456"/>
            <a:ext cx="4050792" cy="1371600"/>
          </a:xfrm>
          <a:prstGeom prst="roundRect">
            <a:avLst>
              <a:gd name="adj" fmla="val 6667"/>
            </a:avLst>
          </a:prstGeom>
          <a:solidFill>
            <a:srgbClr val="0B0B14">
              <a:alpha val="86000"/>
            </a:srgbClr>
          </a:solidFill>
          <a:ln w="12700">
            <a:solidFill>
              <a:srgbClr val="E63946">
                <a:alpha val="45000"/>
              </a:srgbClr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7863840" y="5120640"/>
            <a:ext cx="713232" cy="713232"/>
          </a:xfrm>
          <a:prstGeom prst="ellipse">
            <a:avLst/>
          </a:prstGeom>
          <a:solidFill>
            <a:srgbClr val="C81E2B"/>
          </a:solidFill>
          <a:ln/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pic>
        <p:nvPicPr>
          <p:cNvPr id="20" name="Image 3" descr="ic_user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37576" y="5294376"/>
            <a:ext cx="365760" cy="36576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8778240" y="4974336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Kelola Pengguna</a:t>
            </a:r>
            <a:endParaRPr lang="en-US" sz="1600" dirty="0"/>
          </a:p>
        </p:txBody>
      </p:sp>
      <p:sp>
        <p:nvSpPr>
          <p:cNvPr id="22" name="Text 15"/>
          <p:cNvSpPr/>
          <p:nvPr/>
        </p:nvSpPr>
        <p:spPr>
          <a:xfrm>
            <a:off x="8778240" y="5340096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AE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Melihat daftar semua pengguna terdaftar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731520" cy="731520"/>
          </a:xfrm>
          <a:prstGeom prst="ellipse">
            <a:avLst/>
          </a:prstGeom>
          <a:solidFill>
            <a:srgbClr val="E63946"/>
          </a:solidFill>
          <a:ln/>
          <a:effectLst>
            <a:outerShdw sx="100000" sy="100000" kx="0" ky="0" algn="bl" rotWithShape="0" blurRad="114300" dist="38100" dir="5400000">
              <a:srgbClr val="000000">
                <a:alpha val="42000"/>
              </a:srgbClr>
            </a:outerShdw>
          </a:effectLst>
        </p:spPr>
      </p:sp>
      <p:pic>
        <p:nvPicPr>
          <p:cNvPr id="3" name="Image 0" descr="ic_flow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" y="630936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81328" y="4572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Alur Kerja Aplikasi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66928" y="1517904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0B0B14">
              <a:alpha val="84000"/>
            </a:srgbClr>
          </a:solidFill>
          <a:ln/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77240" y="1682496"/>
            <a:ext cx="2788920" cy="457200"/>
          </a:xfrm>
          <a:prstGeom prst="roundRect">
            <a:avLst>
              <a:gd name="adj" fmla="val 50000"/>
            </a:avLst>
          </a:prstGeom>
          <a:solidFill>
            <a:srgbClr val="C81E2B"/>
          </a:solidFill>
          <a:ln/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77240" y="1682496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Pertama Kali Buka Aplikasi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777240" y="2267712"/>
            <a:ext cx="2331720" cy="512064"/>
          </a:xfrm>
          <a:prstGeom prst="roundRect">
            <a:avLst>
              <a:gd name="adj" fmla="val 17857"/>
            </a:avLst>
          </a:prstGeom>
          <a:solidFill>
            <a:srgbClr val="16121A">
              <a:alpha val="94000"/>
            </a:srgbClr>
          </a:solidFill>
          <a:ln w="15240">
            <a:solidFill>
              <a:srgbClr val="E63946">
                <a:alpha val="8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2267712"/>
            <a:ext cx="2240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 aplikasi</a:t>
            </a:r>
            <a:endParaRPr lang="en-US" sz="1250" dirty="0"/>
          </a:p>
        </p:txBody>
      </p:sp>
      <p:pic>
        <p:nvPicPr>
          <p:cNvPr id="10" name="Image 1" descr="ic_arr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5536" y="2404872"/>
            <a:ext cx="310896" cy="23774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493008" y="2267712"/>
            <a:ext cx="2331720" cy="512064"/>
          </a:xfrm>
          <a:prstGeom prst="roundRect">
            <a:avLst>
              <a:gd name="adj" fmla="val 17857"/>
            </a:avLst>
          </a:prstGeom>
          <a:solidFill>
            <a:srgbClr val="16121A">
              <a:alpha val="94000"/>
            </a:srgbClr>
          </a:solidFill>
          <a:ln w="15240">
            <a:solidFill>
              <a:srgbClr val="E63946">
                <a:alpha val="80000"/>
              </a:srgbClr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538728" y="2267712"/>
            <a:ext cx="2240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Inisialisasi Firebase</a:t>
            </a:r>
            <a:endParaRPr lang="en-US" sz="1250" dirty="0"/>
          </a:p>
        </p:txBody>
      </p:sp>
      <p:pic>
        <p:nvPicPr>
          <p:cNvPr id="13" name="Image 2" descr="ic_arr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1304" y="2404872"/>
            <a:ext cx="310896" cy="237744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6208776" y="2267712"/>
            <a:ext cx="2331720" cy="512064"/>
          </a:xfrm>
          <a:prstGeom prst="roundRect">
            <a:avLst>
              <a:gd name="adj" fmla="val 17857"/>
            </a:avLst>
          </a:prstGeom>
          <a:solidFill>
            <a:srgbClr val="16121A">
              <a:alpha val="94000"/>
            </a:srgbClr>
          </a:solidFill>
          <a:ln w="15240">
            <a:solidFill>
              <a:srgbClr val="E63946">
                <a:alpha val="80000"/>
              </a:srgbClr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6254496" y="2267712"/>
            <a:ext cx="2240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Cek status login</a:t>
            </a:r>
            <a:endParaRPr lang="en-US" sz="1250" dirty="0"/>
          </a:p>
        </p:txBody>
      </p:sp>
      <p:pic>
        <p:nvPicPr>
          <p:cNvPr id="16" name="Image 3" descr="ic_arro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7072" y="2404872"/>
            <a:ext cx="310896" cy="237744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924544" y="2267712"/>
            <a:ext cx="2331720" cy="512064"/>
          </a:xfrm>
          <a:prstGeom prst="roundRect">
            <a:avLst>
              <a:gd name="adj" fmla="val 17857"/>
            </a:avLst>
          </a:prstGeom>
          <a:solidFill>
            <a:srgbClr val="16121A">
              <a:alpha val="94000"/>
            </a:srgbClr>
          </a:solidFill>
          <a:ln w="15240">
            <a:solidFill>
              <a:srgbClr val="E63946">
                <a:alpha val="80000"/>
              </a:srgbClr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8970264" y="2267712"/>
            <a:ext cx="2240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atau Home Screen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566928" y="3090672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0B0B14">
              <a:alpha val="84000"/>
            </a:srgbClr>
          </a:solidFill>
          <a:ln/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777240" y="3255264"/>
            <a:ext cx="2788920" cy="457200"/>
          </a:xfrm>
          <a:prstGeom prst="roundRect">
            <a:avLst>
              <a:gd name="adj" fmla="val 50000"/>
            </a:avLst>
          </a:prstGeom>
          <a:solidFill>
            <a:srgbClr val="C81E2B"/>
          </a:solidFill>
          <a:ln/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21" name="Text 15"/>
          <p:cNvSpPr/>
          <p:nvPr/>
        </p:nvSpPr>
        <p:spPr>
          <a:xfrm>
            <a:off x="777240" y="3255264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Alur Login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777240" y="3840480"/>
            <a:ext cx="2331720" cy="512064"/>
          </a:xfrm>
          <a:prstGeom prst="roundRect">
            <a:avLst>
              <a:gd name="adj" fmla="val 17857"/>
            </a:avLst>
          </a:prstGeom>
          <a:solidFill>
            <a:srgbClr val="16121A">
              <a:alpha val="94000"/>
            </a:srgbClr>
          </a:solidFill>
          <a:ln w="15240">
            <a:solidFill>
              <a:srgbClr val="E63946">
                <a:alpha val="80000"/>
              </a:srgbClr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822960" y="3840480"/>
            <a:ext cx="2240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 email dan kata sandi</a:t>
            </a:r>
            <a:endParaRPr lang="en-US" sz="1250" dirty="0"/>
          </a:p>
        </p:txBody>
      </p:sp>
      <p:pic>
        <p:nvPicPr>
          <p:cNvPr id="24" name="Image 4" descr="ic_arr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45536" y="3977640"/>
            <a:ext cx="310896" cy="237744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3493008" y="3840480"/>
            <a:ext cx="2331720" cy="512064"/>
          </a:xfrm>
          <a:prstGeom prst="roundRect">
            <a:avLst>
              <a:gd name="adj" fmla="val 17857"/>
            </a:avLst>
          </a:prstGeom>
          <a:solidFill>
            <a:srgbClr val="16121A">
              <a:alpha val="94000"/>
            </a:srgbClr>
          </a:solidFill>
          <a:ln w="15240">
            <a:solidFill>
              <a:srgbClr val="E63946">
                <a:alpha val="80000"/>
              </a:srgbClr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3538728" y="3840480"/>
            <a:ext cx="2240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 verifikasi</a:t>
            </a:r>
            <a:endParaRPr lang="en-US" sz="1250" dirty="0"/>
          </a:p>
        </p:txBody>
      </p:sp>
      <p:pic>
        <p:nvPicPr>
          <p:cNvPr id="27" name="Image 5" descr="ic_arro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61304" y="3977640"/>
            <a:ext cx="310896" cy="237744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6208776" y="3840480"/>
            <a:ext cx="2331720" cy="512064"/>
          </a:xfrm>
          <a:prstGeom prst="roundRect">
            <a:avLst>
              <a:gd name="adj" fmla="val 17857"/>
            </a:avLst>
          </a:prstGeom>
          <a:solidFill>
            <a:srgbClr val="16121A">
              <a:alpha val="94000"/>
            </a:srgbClr>
          </a:solidFill>
          <a:ln w="15240">
            <a:solidFill>
              <a:srgbClr val="E63946">
                <a:alpha val="80000"/>
              </a:srgbClr>
            </a:solidFill>
            <a:prstDash val="solid"/>
          </a:ln>
        </p:spPr>
      </p:sp>
      <p:sp>
        <p:nvSpPr>
          <p:cNvPr id="29" name="Text 21"/>
          <p:cNvSpPr/>
          <p:nvPr/>
        </p:nvSpPr>
        <p:spPr>
          <a:xfrm>
            <a:off x="6254496" y="3840480"/>
            <a:ext cx="2240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Dapat token UID</a:t>
            </a:r>
            <a:endParaRPr lang="en-US" sz="1250" dirty="0"/>
          </a:p>
        </p:txBody>
      </p:sp>
      <p:pic>
        <p:nvPicPr>
          <p:cNvPr id="30" name="Image 6" descr="ic_arrow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77072" y="3977640"/>
            <a:ext cx="310896" cy="237744"/>
          </a:xfrm>
          <a:prstGeom prst="rect">
            <a:avLst/>
          </a:prstGeom>
        </p:spPr>
      </p:pic>
      <p:sp>
        <p:nvSpPr>
          <p:cNvPr id="31" name="Shape 22"/>
          <p:cNvSpPr/>
          <p:nvPr/>
        </p:nvSpPr>
        <p:spPr>
          <a:xfrm>
            <a:off x="8924544" y="3840480"/>
            <a:ext cx="2331720" cy="512064"/>
          </a:xfrm>
          <a:prstGeom prst="roundRect">
            <a:avLst>
              <a:gd name="adj" fmla="val 17857"/>
            </a:avLst>
          </a:prstGeom>
          <a:solidFill>
            <a:srgbClr val="16121A">
              <a:alpha val="94000"/>
            </a:srgbClr>
          </a:solidFill>
          <a:ln w="15240">
            <a:solidFill>
              <a:srgbClr val="E63946">
                <a:alpha val="80000"/>
              </a:srgbClr>
            </a:solidFill>
            <a:prstDash val="solid"/>
          </a:ln>
        </p:spPr>
      </p:sp>
      <p:sp>
        <p:nvSpPr>
          <p:cNvPr id="32" name="Text 23"/>
          <p:cNvSpPr/>
          <p:nvPr/>
        </p:nvSpPr>
        <p:spPr>
          <a:xfrm>
            <a:off x="8970264" y="3840480"/>
            <a:ext cx="2240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Cek role lalu diarahkan</a:t>
            </a:r>
            <a:endParaRPr lang="en-US" sz="1250" dirty="0"/>
          </a:p>
        </p:txBody>
      </p:sp>
      <p:sp>
        <p:nvSpPr>
          <p:cNvPr id="33" name="Shape 24"/>
          <p:cNvSpPr/>
          <p:nvPr/>
        </p:nvSpPr>
        <p:spPr>
          <a:xfrm>
            <a:off x="566928" y="466344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0B0B14">
              <a:alpha val="84000"/>
            </a:srgbClr>
          </a:solidFill>
          <a:ln/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34" name="Shape 25"/>
          <p:cNvSpPr/>
          <p:nvPr/>
        </p:nvSpPr>
        <p:spPr>
          <a:xfrm>
            <a:off x="777240" y="4828032"/>
            <a:ext cx="2788920" cy="457200"/>
          </a:xfrm>
          <a:prstGeom prst="roundRect">
            <a:avLst>
              <a:gd name="adj" fmla="val 50000"/>
            </a:avLst>
          </a:prstGeom>
          <a:solidFill>
            <a:srgbClr val="C81E2B"/>
          </a:solidFill>
          <a:ln/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35" name="Text 26"/>
          <p:cNvSpPr/>
          <p:nvPr/>
        </p:nvSpPr>
        <p:spPr>
          <a:xfrm>
            <a:off x="777240" y="482803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Alur Putar Lagu</a:t>
            </a:r>
            <a:endParaRPr lang="en-US" sz="1350" dirty="0"/>
          </a:p>
        </p:txBody>
      </p:sp>
      <p:sp>
        <p:nvSpPr>
          <p:cNvPr id="36" name="Shape 27"/>
          <p:cNvSpPr/>
          <p:nvPr/>
        </p:nvSpPr>
        <p:spPr>
          <a:xfrm>
            <a:off x="777240" y="5413248"/>
            <a:ext cx="2331720" cy="512064"/>
          </a:xfrm>
          <a:prstGeom prst="roundRect">
            <a:avLst>
              <a:gd name="adj" fmla="val 17857"/>
            </a:avLst>
          </a:prstGeom>
          <a:solidFill>
            <a:srgbClr val="16121A">
              <a:alpha val="94000"/>
            </a:srgbClr>
          </a:solidFill>
          <a:ln w="15240">
            <a:solidFill>
              <a:srgbClr val="E63946">
                <a:alpha val="80000"/>
              </a:srgbClr>
            </a:solidFill>
            <a:prstDash val="solid"/>
          </a:ln>
        </p:spPr>
      </p:sp>
      <p:sp>
        <p:nvSpPr>
          <p:cNvPr id="37" name="Text 28"/>
          <p:cNvSpPr/>
          <p:nvPr/>
        </p:nvSpPr>
        <p:spPr>
          <a:xfrm>
            <a:off x="822960" y="5413248"/>
            <a:ext cx="2240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Pilih lagu di Home</a:t>
            </a:r>
            <a:endParaRPr lang="en-US" sz="1250" dirty="0"/>
          </a:p>
        </p:txBody>
      </p:sp>
      <p:pic>
        <p:nvPicPr>
          <p:cNvPr id="38" name="Image 7" descr="ic_arrow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45536" y="5550408"/>
            <a:ext cx="310896" cy="237744"/>
          </a:xfrm>
          <a:prstGeom prst="rect">
            <a:avLst/>
          </a:prstGeom>
        </p:spPr>
      </p:pic>
      <p:sp>
        <p:nvSpPr>
          <p:cNvPr id="39" name="Shape 29"/>
          <p:cNvSpPr/>
          <p:nvPr/>
        </p:nvSpPr>
        <p:spPr>
          <a:xfrm>
            <a:off x="3493008" y="5413248"/>
            <a:ext cx="2331720" cy="512064"/>
          </a:xfrm>
          <a:prstGeom prst="roundRect">
            <a:avLst>
              <a:gd name="adj" fmla="val 17857"/>
            </a:avLst>
          </a:prstGeom>
          <a:solidFill>
            <a:srgbClr val="16121A">
              <a:alpha val="94000"/>
            </a:srgbClr>
          </a:solidFill>
          <a:ln w="15240">
            <a:solidFill>
              <a:srgbClr val="E63946">
                <a:alpha val="80000"/>
              </a:srgbClr>
            </a:solidFill>
            <a:prstDash val="solid"/>
          </a:ln>
        </p:spPr>
      </p:sp>
      <p:sp>
        <p:nvSpPr>
          <p:cNvPr id="40" name="Text 30"/>
          <p:cNvSpPr/>
          <p:nvPr/>
        </p:nvSpPr>
        <p:spPr>
          <a:xfrm>
            <a:off x="3538728" y="5413248"/>
            <a:ext cx="2240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 Song Detail</a:t>
            </a:r>
            <a:endParaRPr lang="en-US" sz="1250" dirty="0"/>
          </a:p>
        </p:txBody>
      </p:sp>
      <p:pic>
        <p:nvPicPr>
          <p:cNvPr id="41" name="Image 8" descr="ic_arrow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61304" y="5550408"/>
            <a:ext cx="310896" cy="237744"/>
          </a:xfrm>
          <a:prstGeom prst="rect">
            <a:avLst/>
          </a:prstGeom>
        </p:spPr>
      </p:pic>
      <p:sp>
        <p:nvSpPr>
          <p:cNvPr id="42" name="Shape 31"/>
          <p:cNvSpPr/>
          <p:nvPr/>
        </p:nvSpPr>
        <p:spPr>
          <a:xfrm>
            <a:off x="6208776" y="5413248"/>
            <a:ext cx="2331720" cy="512064"/>
          </a:xfrm>
          <a:prstGeom prst="roundRect">
            <a:avLst>
              <a:gd name="adj" fmla="val 17857"/>
            </a:avLst>
          </a:prstGeom>
          <a:solidFill>
            <a:srgbClr val="16121A">
              <a:alpha val="94000"/>
            </a:srgbClr>
          </a:solidFill>
          <a:ln w="15240">
            <a:solidFill>
              <a:srgbClr val="E63946">
                <a:alpha val="80000"/>
              </a:srgbClr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6254496" y="5413248"/>
            <a:ext cx="2240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diputar</a:t>
            </a:r>
            <a:endParaRPr lang="en-US" sz="1250" dirty="0"/>
          </a:p>
        </p:txBody>
      </p:sp>
      <p:pic>
        <p:nvPicPr>
          <p:cNvPr id="44" name="Image 9" descr="ic_arrow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77072" y="5550408"/>
            <a:ext cx="310896" cy="237744"/>
          </a:xfrm>
          <a:prstGeom prst="rect">
            <a:avLst/>
          </a:prstGeom>
        </p:spPr>
      </p:pic>
      <p:sp>
        <p:nvSpPr>
          <p:cNvPr id="45" name="Shape 33"/>
          <p:cNvSpPr/>
          <p:nvPr/>
        </p:nvSpPr>
        <p:spPr>
          <a:xfrm>
            <a:off x="8924544" y="5413248"/>
            <a:ext cx="2331720" cy="512064"/>
          </a:xfrm>
          <a:prstGeom prst="roundRect">
            <a:avLst>
              <a:gd name="adj" fmla="val 17857"/>
            </a:avLst>
          </a:prstGeom>
          <a:solidFill>
            <a:srgbClr val="16121A">
              <a:alpha val="94000"/>
            </a:srgbClr>
          </a:solidFill>
          <a:ln w="15240">
            <a:solidFill>
              <a:srgbClr val="E63946">
                <a:alpha val="80000"/>
              </a:srgbClr>
            </a:solidFill>
            <a:prstDash val="solid"/>
          </a:ln>
        </p:spPr>
      </p:sp>
      <p:sp>
        <p:nvSpPr>
          <p:cNvPr id="46" name="Text 34"/>
          <p:cNvSpPr/>
          <p:nvPr/>
        </p:nvSpPr>
        <p:spPr>
          <a:xfrm>
            <a:off x="8970264" y="5413248"/>
            <a:ext cx="2240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Tersimpan ke riwayat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731520" cy="731520"/>
          </a:xfrm>
          <a:prstGeom prst="ellipse">
            <a:avLst/>
          </a:prstGeom>
          <a:solidFill>
            <a:srgbClr val="E63946"/>
          </a:solidFill>
          <a:ln/>
          <a:effectLst>
            <a:outerShdw sx="100000" sy="100000" kx="0" ky="0" algn="bl" rotWithShape="0" blurRad="114300" dist="38100" dir="5400000">
              <a:srgbClr val="000000">
                <a:alpha val="42000"/>
              </a:srgbClr>
            </a:outerShdw>
          </a:effectLst>
        </p:spPr>
      </p:sp>
      <p:pic>
        <p:nvPicPr>
          <p:cNvPr id="3" name="Image 0" descr="ic_db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" y="630936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81328" y="4572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 Data Disimpan di Firebase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084168" y="1481328"/>
            <a:ext cx="4023360" cy="603504"/>
          </a:xfrm>
          <a:prstGeom prst="roundRect">
            <a:avLst>
              <a:gd name="adj" fmla="val 15152"/>
            </a:avLst>
          </a:prstGeom>
          <a:solidFill>
            <a:srgbClr val="1A0E12">
              <a:alpha val="92000"/>
            </a:srgbClr>
          </a:solidFill>
          <a:ln w="17780">
            <a:solidFill>
              <a:srgbClr val="E63946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pic>
        <p:nvPicPr>
          <p:cNvPr id="6" name="Image 1" descr="ic_fire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7088" y="1636776"/>
            <a:ext cx="310896" cy="31089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952848" y="1481328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Firestore</a:t>
            </a:r>
            <a:endParaRPr lang="en-US" sz="1800" dirty="0"/>
          </a:p>
        </p:txBody>
      </p:sp>
      <p:sp>
        <p:nvSpPr>
          <p:cNvPr id="8" name="Shape 4"/>
          <p:cNvSpPr/>
          <p:nvPr/>
        </p:nvSpPr>
        <p:spPr>
          <a:xfrm>
            <a:off x="566928" y="2542032"/>
            <a:ext cx="2139696" cy="3200400"/>
          </a:xfrm>
          <a:prstGeom prst="roundRect">
            <a:avLst>
              <a:gd name="adj" fmla="val 4274"/>
            </a:avLst>
          </a:prstGeom>
          <a:solidFill>
            <a:srgbClr val="0B0B14">
              <a:alpha val="86000"/>
            </a:srgbClr>
          </a:solidFill>
          <a:ln w="12700">
            <a:solidFill>
              <a:srgbClr val="E63946">
                <a:alpha val="50000"/>
              </a:srgbClr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1216152" y="2926080"/>
            <a:ext cx="841248" cy="841248"/>
          </a:xfrm>
          <a:prstGeom prst="ellipse">
            <a:avLst/>
          </a:prstGeom>
          <a:solidFill>
            <a:srgbClr val="C81E2B"/>
          </a:solidFill>
          <a:ln/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pic>
        <p:nvPicPr>
          <p:cNvPr id="10" name="Image 2" descr="ic_d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7320" y="3118104"/>
            <a:ext cx="438912" cy="43891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76656" y="395935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800" dirty="0"/>
          </a:p>
        </p:txBody>
      </p:sp>
      <p:sp>
        <p:nvSpPr>
          <p:cNvPr id="12" name="Shape 7"/>
          <p:cNvSpPr/>
          <p:nvPr/>
        </p:nvSpPr>
        <p:spPr>
          <a:xfrm>
            <a:off x="1024128" y="4480560"/>
            <a:ext cx="1225296" cy="0"/>
          </a:xfrm>
          <a:prstGeom prst="line">
            <a:avLst/>
          </a:prstGeom>
          <a:noFill/>
          <a:ln w="15240">
            <a:solidFill>
              <a:srgbClr val="E63946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731520" y="4626864"/>
            <a:ext cx="18105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9D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Menyimpan data tiap pengguna yaitu nama, email, role, dan foto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2830068" y="2542032"/>
            <a:ext cx="2139696" cy="3200400"/>
          </a:xfrm>
          <a:prstGeom prst="roundRect">
            <a:avLst>
              <a:gd name="adj" fmla="val 4274"/>
            </a:avLst>
          </a:prstGeom>
          <a:solidFill>
            <a:srgbClr val="0B0B14">
              <a:alpha val="86000"/>
            </a:srgbClr>
          </a:solidFill>
          <a:ln w="12700">
            <a:solidFill>
              <a:srgbClr val="E63946">
                <a:alpha val="50000"/>
              </a:srgbClr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479292" y="2926080"/>
            <a:ext cx="841248" cy="841248"/>
          </a:xfrm>
          <a:prstGeom prst="ellipse">
            <a:avLst/>
          </a:prstGeom>
          <a:solidFill>
            <a:srgbClr val="C81E2B"/>
          </a:solidFill>
          <a:ln/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pic>
        <p:nvPicPr>
          <p:cNvPr id="16" name="Image 3" descr="ic_db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0460" y="3118104"/>
            <a:ext cx="438912" cy="43891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2939796" y="395935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songs</a:t>
            </a:r>
            <a:endParaRPr lang="en-US" sz="1800" dirty="0"/>
          </a:p>
        </p:txBody>
      </p:sp>
      <p:sp>
        <p:nvSpPr>
          <p:cNvPr id="18" name="Shape 12"/>
          <p:cNvSpPr/>
          <p:nvPr/>
        </p:nvSpPr>
        <p:spPr>
          <a:xfrm>
            <a:off x="3287268" y="4480560"/>
            <a:ext cx="1225296" cy="0"/>
          </a:xfrm>
          <a:prstGeom prst="line">
            <a:avLst/>
          </a:prstGeom>
          <a:noFill/>
          <a:ln w="15240">
            <a:solidFill>
              <a:srgbClr val="E63946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2994660" y="4626864"/>
            <a:ext cx="18105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9D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Menyimpan data tiap lagu yaitu judul, artis, berkas, dan cover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5093208" y="2542032"/>
            <a:ext cx="2139696" cy="3200400"/>
          </a:xfrm>
          <a:prstGeom prst="roundRect">
            <a:avLst>
              <a:gd name="adj" fmla="val 4274"/>
            </a:avLst>
          </a:prstGeom>
          <a:solidFill>
            <a:srgbClr val="0B0B14">
              <a:alpha val="86000"/>
            </a:srgbClr>
          </a:solidFill>
          <a:ln w="12700">
            <a:solidFill>
              <a:srgbClr val="E63946">
                <a:alpha val="50000"/>
              </a:srgbClr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5742432" y="2926080"/>
            <a:ext cx="841248" cy="841248"/>
          </a:xfrm>
          <a:prstGeom prst="ellipse">
            <a:avLst/>
          </a:prstGeom>
          <a:solidFill>
            <a:srgbClr val="C81E2B"/>
          </a:solidFill>
          <a:ln/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pic>
        <p:nvPicPr>
          <p:cNvPr id="22" name="Image 4" descr="ic_db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0" y="3118104"/>
            <a:ext cx="438912" cy="43891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202936" y="395935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playlists</a:t>
            </a:r>
            <a:endParaRPr lang="en-US" sz="1800" dirty="0"/>
          </a:p>
        </p:txBody>
      </p:sp>
      <p:sp>
        <p:nvSpPr>
          <p:cNvPr id="24" name="Shape 17"/>
          <p:cNvSpPr/>
          <p:nvPr/>
        </p:nvSpPr>
        <p:spPr>
          <a:xfrm>
            <a:off x="5550408" y="4480560"/>
            <a:ext cx="1225296" cy="0"/>
          </a:xfrm>
          <a:prstGeom prst="line">
            <a:avLst/>
          </a:prstGeom>
          <a:noFill/>
          <a:ln w="15240">
            <a:solidFill>
              <a:srgbClr val="E63946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5257800" y="4626864"/>
            <a:ext cx="18105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9D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Menyimpan playlist milik masing masing pengguna</a:t>
            </a:r>
            <a:endParaRPr lang="en-US" sz="1250" dirty="0"/>
          </a:p>
        </p:txBody>
      </p:sp>
      <p:sp>
        <p:nvSpPr>
          <p:cNvPr id="26" name="Shape 19"/>
          <p:cNvSpPr/>
          <p:nvPr/>
        </p:nvSpPr>
        <p:spPr>
          <a:xfrm>
            <a:off x="7356348" y="2542032"/>
            <a:ext cx="2139696" cy="3200400"/>
          </a:xfrm>
          <a:prstGeom prst="roundRect">
            <a:avLst>
              <a:gd name="adj" fmla="val 4274"/>
            </a:avLst>
          </a:prstGeom>
          <a:solidFill>
            <a:srgbClr val="0B0B14">
              <a:alpha val="86000"/>
            </a:srgbClr>
          </a:solidFill>
          <a:ln w="12700">
            <a:solidFill>
              <a:srgbClr val="E63946">
                <a:alpha val="50000"/>
              </a:srgbClr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8005572" y="2926080"/>
            <a:ext cx="841248" cy="841248"/>
          </a:xfrm>
          <a:prstGeom prst="ellipse">
            <a:avLst/>
          </a:prstGeom>
          <a:solidFill>
            <a:srgbClr val="C81E2B"/>
          </a:solidFill>
          <a:ln/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pic>
        <p:nvPicPr>
          <p:cNvPr id="28" name="Image 5" descr="ic_db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06740" y="3118104"/>
            <a:ext cx="438912" cy="438912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7466076" y="395935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1800" dirty="0"/>
          </a:p>
        </p:txBody>
      </p:sp>
      <p:sp>
        <p:nvSpPr>
          <p:cNvPr id="30" name="Shape 22"/>
          <p:cNvSpPr/>
          <p:nvPr/>
        </p:nvSpPr>
        <p:spPr>
          <a:xfrm>
            <a:off x="7813548" y="4480560"/>
            <a:ext cx="1225296" cy="0"/>
          </a:xfrm>
          <a:prstGeom prst="line">
            <a:avLst/>
          </a:prstGeom>
          <a:noFill/>
          <a:ln w="15240">
            <a:solidFill>
              <a:srgbClr val="E63946"/>
            </a:solidFill>
            <a:prstDash val="solid"/>
          </a:ln>
        </p:spPr>
      </p:sp>
      <p:sp>
        <p:nvSpPr>
          <p:cNvPr id="31" name="Text 23"/>
          <p:cNvSpPr/>
          <p:nvPr/>
        </p:nvSpPr>
        <p:spPr>
          <a:xfrm>
            <a:off x="7520940" y="4626864"/>
            <a:ext cx="18105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9D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Menyimpan riwayat lagu yang pernah diputar</a:t>
            </a:r>
            <a:endParaRPr lang="en-US" sz="1250" dirty="0"/>
          </a:p>
        </p:txBody>
      </p:sp>
      <p:sp>
        <p:nvSpPr>
          <p:cNvPr id="32" name="Shape 24"/>
          <p:cNvSpPr/>
          <p:nvPr/>
        </p:nvSpPr>
        <p:spPr>
          <a:xfrm>
            <a:off x="9619488" y="2542032"/>
            <a:ext cx="2139696" cy="3200400"/>
          </a:xfrm>
          <a:prstGeom prst="roundRect">
            <a:avLst>
              <a:gd name="adj" fmla="val 4274"/>
            </a:avLst>
          </a:prstGeom>
          <a:solidFill>
            <a:srgbClr val="0B0B14">
              <a:alpha val="86000"/>
            </a:srgbClr>
          </a:solidFill>
          <a:ln w="12700">
            <a:solidFill>
              <a:srgbClr val="E63946">
                <a:alpha val="50000"/>
              </a:srgbClr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33" name="Shape 25"/>
          <p:cNvSpPr/>
          <p:nvPr/>
        </p:nvSpPr>
        <p:spPr>
          <a:xfrm>
            <a:off x="10268712" y="2926080"/>
            <a:ext cx="841248" cy="841248"/>
          </a:xfrm>
          <a:prstGeom prst="ellipse">
            <a:avLst/>
          </a:prstGeom>
          <a:solidFill>
            <a:srgbClr val="C81E2B"/>
          </a:solidFill>
          <a:ln/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pic>
        <p:nvPicPr>
          <p:cNvPr id="34" name="Image 6" descr="ic_db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69880" y="3118104"/>
            <a:ext cx="438912" cy="438912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9729216" y="395935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</a:t>
            </a:r>
            <a:endParaRPr lang="en-US" sz="1800" dirty="0"/>
          </a:p>
        </p:txBody>
      </p:sp>
      <p:sp>
        <p:nvSpPr>
          <p:cNvPr id="36" name="Shape 27"/>
          <p:cNvSpPr/>
          <p:nvPr/>
        </p:nvSpPr>
        <p:spPr>
          <a:xfrm>
            <a:off x="10076688" y="4480560"/>
            <a:ext cx="1225296" cy="0"/>
          </a:xfrm>
          <a:prstGeom prst="line">
            <a:avLst/>
          </a:prstGeom>
          <a:noFill/>
          <a:ln w="15240">
            <a:solidFill>
              <a:srgbClr val="E63946"/>
            </a:solidFill>
            <a:prstDash val="solid"/>
          </a:ln>
        </p:spPr>
      </p:sp>
      <p:sp>
        <p:nvSpPr>
          <p:cNvPr id="37" name="Text 28"/>
          <p:cNvSpPr/>
          <p:nvPr/>
        </p:nvSpPr>
        <p:spPr>
          <a:xfrm>
            <a:off x="9784080" y="4626864"/>
            <a:ext cx="18105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9D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Menyimpan komentar pengguna di tiap lagu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731520" cy="731520"/>
          </a:xfrm>
          <a:prstGeom prst="ellipse">
            <a:avLst/>
          </a:prstGeom>
          <a:solidFill>
            <a:srgbClr val="E63946"/>
          </a:solidFill>
          <a:ln/>
          <a:effectLst>
            <a:outerShdw sx="100000" sy="100000" kx="0" ky="0" algn="bl" rotWithShape="0" blurRad="114300" dist="38100" dir="5400000">
              <a:srgbClr val="000000">
                <a:alpha val="42000"/>
              </a:srgbClr>
            </a:outerShdw>
          </a:effectLst>
        </p:spPr>
      </p:sp>
      <p:pic>
        <p:nvPicPr>
          <p:cNvPr id="3" name="Image 0" descr="ic_shield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" y="630936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81328" y="4572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Keamanan Sistem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66928" y="1627632"/>
            <a:ext cx="5458968" cy="2212848"/>
          </a:xfrm>
          <a:prstGeom prst="roundRect">
            <a:avLst>
              <a:gd name="adj" fmla="val 4132"/>
            </a:avLst>
          </a:prstGeom>
          <a:solidFill>
            <a:srgbClr val="0B0B14">
              <a:alpha val="85000"/>
            </a:srgbClr>
          </a:solidFill>
          <a:ln w="12700">
            <a:solidFill>
              <a:srgbClr val="E63946">
                <a:alpha val="52000"/>
              </a:srgbClr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78408" y="2167128"/>
            <a:ext cx="1133856" cy="1133856"/>
          </a:xfrm>
          <a:prstGeom prst="ellipse">
            <a:avLst/>
          </a:prstGeom>
          <a:solidFill>
            <a:srgbClr val="C81E2B"/>
          </a:solidFill>
          <a:ln/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pic>
        <p:nvPicPr>
          <p:cNvPr id="7" name="Image 1" descr="ic_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9304" y="2478024"/>
            <a:ext cx="512064" cy="51206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395728" y="2011680"/>
            <a:ext cx="3355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Kata Sandi</a:t>
            </a:r>
            <a:endParaRPr lang="en-US" sz="2100" dirty="0"/>
          </a:p>
        </p:txBody>
      </p:sp>
      <p:sp>
        <p:nvSpPr>
          <p:cNvPr id="9" name="Text 5"/>
          <p:cNvSpPr/>
          <p:nvPr/>
        </p:nvSpPr>
        <p:spPr>
          <a:xfrm>
            <a:off x="2395728" y="2560320"/>
            <a:ext cx="3401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D9D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Dienkripsi oleh Firebase dan tidak pernah tersimpan mentah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6172200" y="1627632"/>
            <a:ext cx="5458968" cy="2212848"/>
          </a:xfrm>
          <a:prstGeom prst="roundRect">
            <a:avLst>
              <a:gd name="adj" fmla="val 4132"/>
            </a:avLst>
          </a:prstGeom>
          <a:solidFill>
            <a:srgbClr val="0B0B14">
              <a:alpha val="85000"/>
            </a:srgbClr>
          </a:solidFill>
          <a:ln w="12700">
            <a:solidFill>
              <a:srgbClr val="E63946">
                <a:alpha val="52000"/>
              </a:srgbClr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583680" y="2167128"/>
            <a:ext cx="1133856" cy="1133856"/>
          </a:xfrm>
          <a:prstGeom prst="ellipse">
            <a:avLst/>
          </a:prstGeom>
          <a:solidFill>
            <a:srgbClr val="C81E2B"/>
          </a:solidFill>
          <a:ln/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pic>
        <p:nvPicPr>
          <p:cNvPr id="12" name="Image 2" descr="ic_ke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4576" y="2478024"/>
            <a:ext cx="512064" cy="51206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001000" y="2011680"/>
            <a:ext cx="3355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Login</a:t>
            </a:r>
            <a:endParaRPr lang="en-US" sz="2100" dirty="0"/>
          </a:p>
        </p:txBody>
      </p:sp>
      <p:sp>
        <p:nvSpPr>
          <p:cNvPr id="14" name="Text 9"/>
          <p:cNvSpPr/>
          <p:nvPr/>
        </p:nvSpPr>
        <p:spPr>
          <a:xfrm>
            <a:off x="8001000" y="2560320"/>
            <a:ext cx="3401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D9D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otomatis membuat dan menyegarkan token secara berkala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566928" y="4078224"/>
            <a:ext cx="5458968" cy="2212848"/>
          </a:xfrm>
          <a:prstGeom prst="roundRect">
            <a:avLst>
              <a:gd name="adj" fmla="val 4132"/>
            </a:avLst>
          </a:prstGeom>
          <a:solidFill>
            <a:srgbClr val="0B0B14">
              <a:alpha val="85000"/>
            </a:srgbClr>
          </a:solidFill>
          <a:ln w="12700">
            <a:solidFill>
              <a:srgbClr val="E63946">
                <a:alpha val="52000"/>
              </a:srgbClr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978408" y="4617720"/>
            <a:ext cx="1133856" cy="1133856"/>
          </a:xfrm>
          <a:prstGeom prst="ellipse">
            <a:avLst/>
          </a:prstGeom>
          <a:solidFill>
            <a:srgbClr val="C81E2B"/>
          </a:solidFill>
          <a:ln/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pic>
        <p:nvPicPr>
          <p:cNvPr id="17" name="Image 3" descr="ic_ro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9304" y="4928616"/>
            <a:ext cx="512064" cy="51206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2395728" y="4462272"/>
            <a:ext cx="3355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Akses Admin</a:t>
            </a:r>
            <a:endParaRPr lang="en-US" sz="2100" dirty="0"/>
          </a:p>
        </p:txBody>
      </p:sp>
      <p:sp>
        <p:nvSpPr>
          <p:cNvPr id="19" name="Text 13"/>
          <p:cNvSpPr/>
          <p:nvPr/>
        </p:nvSpPr>
        <p:spPr>
          <a:xfrm>
            <a:off x="2395728" y="5010912"/>
            <a:ext cx="3401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D9D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Hak admin dicek langsung dari field role di dalam database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6172200" y="4078224"/>
            <a:ext cx="5458968" cy="2212848"/>
          </a:xfrm>
          <a:prstGeom prst="roundRect">
            <a:avLst>
              <a:gd name="adj" fmla="val 4132"/>
            </a:avLst>
          </a:prstGeom>
          <a:solidFill>
            <a:srgbClr val="0B0B14">
              <a:alpha val="85000"/>
            </a:srgbClr>
          </a:solidFill>
          <a:ln w="12700">
            <a:solidFill>
              <a:srgbClr val="E63946">
                <a:alpha val="52000"/>
              </a:srgbClr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6583680" y="4617720"/>
            <a:ext cx="1133856" cy="1133856"/>
          </a:xfrm>
          <a:prstGeom prst="ellipse">
            <a:avLst/>
          </a:prstGeom>
          <a:solidFill>
            <a:srgbClr val="C81E2B"/>
          </a:solidFill>
          <a:ln/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pic>
        <p:nvPicPr>
          <p:cNvPr id="22" name="Image 4" descr="ic_googl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94576" y="4928616"/>
            <a:ext cx="512064" cy="51206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001000" y="4462272"/>
            <a:ext cx="3355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Sign-In</a:t>
            </a:r>
            <a:endParaRPr lang="en-US" sz="2100" dirty="0"/>
          </a:p>
        </p:txBody>
      </p:sp>
      <p:sp>
        <p:nvSpPr>
          <p:cNvPr id="24" name="Text 17"/>
          <p:cNvSpPr/>
          <p:nvPr/>
        </p:nvSpPr>
        <p:spPr>
          <a:xfrm>
            <a:off x="8001000" y="5010912"/>
            <a:ext cx="3401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D9D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Identitas pengguna diverifikasi langsung oleh Google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rou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960120"/>
            <a:ext cx="1371600" cy="1371600"/>
          </a:xfrm>
          <a:prstGeom prst="rect">
            <a:avLst/>
          </a:prstGeom>
          <a:effectLst>
            <a:outerShdw sx="100000" sy="100000" kx="0" ky="0" algn="bl" rotWithShape="0" blurRad="114300" dist="38100" dir="5400000">
              <a:srgbClr val="000000">
                <a:alpha val="42000"/>
              </a:srgbClr>
            </a:outerShdw>
          </a:effectLst>
        </p:spPr>
      </p:pic>
      <p:sp>
        <p:nvSpPr>
          <p:cNvPr id="3" name="Text 0"/>
          <p:cNvSpPr/>
          <p:nvPr/>
        </p:nvSpPr>
        <p:spPr>
          <a:xfrm>
            <a:off x="548640" y="2514600"/>
            <a:ext cx="7406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Terima Kasih</a:t>
            </a:r>
            <a:endParaRPr lang="en-US" sz="5400" dirty="0"/>
          </a:p>
        </p:txBody>
      </p:sp>
      <p:sp>
        <p:nvSpPr>
          <p:cNvPr id="4" name="Text 1"/>
          <p:cNvSpPr/>
          <p:nvPr/>
        </p:nvSpPr>
        <p:spPr>
          <a:xfrm>
            <a:off x="548640" y="3493008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Diskusi Kelompok H19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548640" y="4261104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D9D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Aplikasi Mobile Koleksi Lagu UKM Band TelU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548640" y="4736592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E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Pindai kode QR di samping untuk mengunduh APK aplikasi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8549640" y="1691640"/>
            <a:ext cx="3108960" cy="3474720"/>
          </a:xfrm>
          <a:prstGeom prst="roundRect">
            <a:avLst>
              <a:gd name="adj" fmla="val 2941"/>
            </a:avLst>
          </a:prstGeom>
          <a:solidFill>
            <a:srgbClr val="FFFFFF">
              <a:alpha val="94000"/>
            </a:srgbClr>
          </a:solidFill>
          <a:ln w="20320">
            <a:solidFill>
              <a:srgbClr val="E63946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869680" y="2011680"/>
            <a:ext cx="2468880" cy="246888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9" name="Image 1" descr="q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2011680"/>
            <a:ext cx="2468880" cy="24688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549640" y="459028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Unduh APK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8549640" y="49560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github.com/Ashlxxy/App-UKMBand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UKM Band TelU Mobile App</dc:title>
  <dc:subject>PptxGenJS Presentation</dc:subject>
  <dc:creator>Kelompok H19</dc:creator>
  <cp:lastModifiedBy>Kelompok H19</cp:lastModifiedBy>
  <cp:revision>1</cp:revision>
  <dcterms:created xsi:type="dcterms:W3CDTF">2026-06-22T00:57:49Z</dcterms:created>
  <dcterms:modified xsi:type="dcterms:W3CDTF">2026-06-22T00:57:49Z</dcterms:modified>
</cp:coreProperties>
</file>